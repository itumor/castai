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31750"/>
          </a:xfrm>
          <a:prstGeom prst="rect">
            <a:avLst/>
          </a:prstGeom>
          <a:solidFill>
            <a:srgbClr val="33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CAST AI Workload Autoscaler</a:t>
            </a:r>
          </a:p>
          <a:p>
            <a:pPr algn="l">
              <a:spcAft>
                <a:spcPts val="400"/>
              </a:spcAft>
            </a:pPr>
            <a:r>
              <a:rPr sz="2600" b="0">
                <a:solidFill>
                  <a:srgbClr val="33C1FF"/>
                </a:solidFill>
                <a:latin typeface="Calibri"/>
              </a:rPr>
              <a:t>Engineering, Tuning &amp; Best‑Practices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DDE7FF"/>
                </a:solidFill>
                <a:latin typeface="Calibri"/>
              </a:rPr>
              <a:t>Production handbook for Kubernetes platform engineers, SREs, architects, support &amp; FinOps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A6472"/>
                </a:solidFill>
                <a:latin typeface="Calibri"/>
              </a:rPr>
              <a:t>Researched against official CAST AI docs (docs.cast.ai) · 2026‑10‑17 · 16 chapters + cheat sheet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2794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6BFF"/>
                </a:solidFill>
                <a:latin typeface="Calibri"/>
              </a:rPr>
              <a:t>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B1B33"/>
                </a:solidFill>
                <a:latin typeface="Calibri"/>
              </a:rPr>
              <a:t>What this guide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4937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E6BFF"/>
                </a:solidFill>
                <a:latin typeface="Calibri"/>
              </a:rPr>
              <a:t>▪ </a:t>
            </a:r>
            <a:r>
              <a:rPr sz="1400" b="1">
                <a:solidFill>
                  <a:srgbClr val="0B1B33"/>
                </a:solidFill>
                <a:latin typeface="Calibri"/>
              </a:rPr>
              <a:t>Source of truth: </a:t>
            </a:r>
            <a:r>
              <a:rPr sz="1400">
                <a:solidFill>
                  <a:srgbClr val="1C2533"/>
                </a:solidFill>
                <a:latin typeface="Calibri"/>
              </a:rPr>
              <a:t>the official CAST AI documentation — 27 pages fetched &amp; mined on 2026‑10‑17 (workload autoscaling, savings, Helm, API indexes).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E6BFF"/>
                </a:solidFill>
                <a:latin typeface="Calibri"/>
              </a:rPr>
              <a:t>▪ </a:t>
            </a:r>
            <a:r>
              <a:rPr sz="1400" b="1">
                <a:solidFill>
                  <a:srgbClr val="0B1B33"/>
                </a:solidFill>
                <a:latin typeface="Calibri"/>
              </a:rPr>
              <a:t>Two label types throughout: </a:t>
            </a:r>
            <a:r>
              <a:rPr sz="1400">
                <a:solidFill>
                  <a:srgbClr val="1C2533"/>
                </a:solidFill>
                <a:latin typeface="Calibri"/>
              </a:rPr>
              <a:t>[Default] = documented CAST AI product default · [Suggested] = recommended starting value (never mixed).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E6BFF"/>
                </a:solidFill>
                <a:latin typeface="Calibri"/>
              </a:rPr>
              <a:t>▪ </a:t>
            </a:r>
            <a:r>
              <a:rPr sz="1400" b="1">
                <a:solidFill>
                  <a:srgbClr val="0B1B33"/>
                </a:solidFill>
                <a:latin typeface="Calibri"/>
              </a:rPr>
              <a:t>Structure: </a:t>
            </a:r>
            <a:r>
              <a:rPr sz="1400">
                <a:solidFill>
                  <a:srgbClr val="1C2533"/>
                </a:solidFill>
                <a:latin typeface="Calibri"/>
              </a:rPr>
              <a:t>16 chapters — architecture, install, policies, tuning, mechanisms, HPA/KEDA, advanced features, GitOps, best practices, troubleshooting (22 scenarios), monitoring, FinOps, API, adoption runbook, case studies — plus a one‑page cheat sheet.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E6BFF"/>
                </a:solidFill>
                <a:latin typeface="Calibri"/>
              </a:rPr>
              <a:t>▪ </a:t>
            </a:r>
            <a:r>
              <a:rPr sz="1400" b="1">
                <a:solidFill>
                  <a:srgbClr val="0B1B33"/>
                </a:solidFill>
                <a:latin typeface="Calibri"/>
              </a:rPr>
              <a:t>Every claim cites its doc URL; </a:t>
            </a:r>
            <a:r>
              <a:rPr sz="1400">
                <a:solidFill>
                  <a:srgbClr val="1C2533"/>
                </a:solidFill>
                <a:latin typeface="Calibri"/>
              </a:rPr>
              <a:t>unverifiable items are flagged, never asserted.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CAST AI WAS Engineering Guide · researched 2026‑10‑17 · docs.cast.ai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2794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6BFF"/>
                </a:solidFill>
                <a:latin typeface="Calibri"/>
              </a:rPr>
              <a:t>CHAPTER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B1B33"/>
                </a:solidFill>
                <a:latin typeface="Calibri"/>
              </a:rPr>
              <a:t>Executive summary — how WAS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27432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50800" cy="192024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9903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B33"/>
                </a:solidFill>
                <a:latin typeface="Calibri"/>
              </a:rPr>
              <a:t>1 · 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728216"/>
            <a:ext cx="245059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agent + exporter gather usage (metrics‑server, PSI, JVM heap, probes)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1325880"/>
            <a:ext cx="27432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5848" y="1325880"/>
            <a:ext cx="50800" cy="1920240"/>
          </a:xfrm>
          <a:prstGeom prst="rect">
            <a:avLst/>
          </a:prstGeom>
          <a:solidFill>
            <a:srgbClr val="33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39903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B33"/>
                </a:solidFill>
                <a:latin typeface="Calibri"/>
              </a:rPr>
              <a:t>2 · Recommend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728216"/>
            <a:ext cx="245059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control plane writes Recommendation CRs ~every 30 min + on anomalies (surge ≥50%, OOM, CPU stall)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1325880"/>
            <a:ext cx="27432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1325880"/>
            <a:ext cx="50800" cy="1920240"/>
          </a:xfrm>
          <a:prstGeom prst="rect">
            <a:avLst/>
          </a:prstGeom>
          <a:solidFill>
            <a:srgbClr val="1F9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9903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B33"/>
                </a:solidFill>
                <a:latin typeface="Calibri"/>
              </a:rPr>
              <a:t>3 · 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728216"/>
            <a:ext cx="245059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immediate (Eviction API, PDB‑honored) · deferred (webhook at pod birth) · in‑place (K8s 1.33+)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61704" y="1325880"/>
            <a:ext cx="27432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61704" y="1325880"/>
            <a:ext cx="50800" cy="192024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6296" y="139903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B33"/>
                </a:solidFill>
                <a:latin typeface="Calibri"/>
              </a:rPr>
              <a:t>4 · Save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1728216"/>
            <a:ext cx="245059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smaller requests → Node Autoscaler consolidates nodes → realized savings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66160"/>
            <a:ext cx="11155680" cy="2651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2E6BFF"/>
                </a:solidFill>
                <a:latin typeface="Calibri"/>
              </a:rPr>
              <a:t>▪ </a:t>
            </a:r>
            <a:r>
              <a:rPr sz="1350" b="1">
                <a:solidFill>
                  <a:srgbClr val="0B1B33"/>
                </a:solidFill>
                <a:latin typeface="Calibri"/>
              </a:rPr>
              <a:t>The tuning surface is small but sharp: </a:t>
            </a:r>
            <a:r>
              <a:rPr sz="1350">
                <a:solidFill>
                  <a:srgbClr val="1C2533"/>
                </a:solidFill>
                <a:latin typeface="Calibri"/>
              </a:rPr>
              <a:t>percentile, overhead, sensitivity, look‑back, min/max constraints, limits strategy, startup mode, confidence, stall detection, HPA converter.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2E6BFF"/>
                </a:solidFill>
                <a:latin typeface="Calibri"/>
              </a:rPr>
              <a:t>▪ </a:t>
            </a:r>
            <a:r>
              <a:rPr sz="1350" b="1">
                <a:solidFill>
                  <a:srgbClr val="0B1B33"/>
                </a:solidFill>
                <a:latin typeface="Calibri"/>
              </a:rPr>
              <a:t>Most consequential choices: </a:t>
            </a:r>
            <a:r>
              <a:rPr sz="1350">
                <a:solidFill>
                  <a:srgbClr val="1C2533"/>
                </a:solidFill>
                <a:latin typeface="Calibri"/>
              </a:rPr>
              <a:t>which workloads you automate at all, which apply mode they get, and how requests interact with existing HPAs.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2E6BFF"/>
                </a:solidFill>
                <a:latin typeface="Calibri"/>
              </a:rPr>
              <a:t>▪ </a:t>
            </a:r>
            <a:r>
              <a:rPr sz="1350" b="1">
                <a:solidFill>
                  <a:srgbClr val="0B1B33"/>
                </a:solidFill>
                <a:latin typeface="Calibri"/>
              </a:rPr>
              <a:t>Golden rule: </a:t>
            </a:r>
            <a:r>
              <a:rPr sz="1350">
                <a:solidFill>
                  <a:srgbClr val="1C2533"/>
                </a:solidFill>
                <a:latin typeface="Calibri"/>
              </a:rPr>
              <a:t>start recommendation‑only; wait ~a week before enabling broad automation so weekly patterns are visible.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CAST AI WAS Engineering Guide · researched 2026‑10‑17 · docs.cast.ai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2794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6BFF"/>
                </a:solidFill>
                <a:latin typeface="Calibri"/>
              </a:rPr>
              <a:t>CHAPTER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B1B33"/>
                </a:solidFill>
                <a:latin typeface="Calibri"/>
              </a:rPr>
              <a:t>Architecture &amp; recommendation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6675120" cy="5120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castai-workload-autoscaler: </a:t>
            </a:r>
            <a:r>
              <a:rPr sz="1250">
                <a:solidFill>
                  <a:srgbClr val="1C2533"/>
                </a:solidFill>
                <a:latin typeface="Calibri"/>
              </a:rPr>
              <a:t>applies Recommendation CRs — admission webhook, immediate rollouts, in‑place resizes, managed HPAs, OOM reaction. HA pair since v0.30.0.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castai-workload-autoscaler-exporter: </a:t>
            </a:r>
            <a:r>
              <a:rPr sz="1250">
                <a:solidFill>
                  <a:srgbClr val="1C2533"/>
                </a:solidFill>
                <a:latin typeface="Calibri"/>
              </a:rPr>
              <a:t>DaemonSet metrics — PSI stalls (K8s ≥1.34), probe failures, JVM heap, custom Prometheus sources.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castai-agent + cluster controller: </a:t>
            </a:r>
            <a:r>
              <a:rPr sz="1250">
                <a:solidFill>
                  <a:srgbClr val="1C2533"/>
                </a:solidFill>
                <a:latin typeface="Calibri"/>
              </a:rPr>
              <a:t>snapshots cluster state; the cluster controller materializes Recommendation CRs — automated optimization mode is required.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Recommendation CRDs: </a:t>
            </a:r>
            <a:r>
              <a:rPr sz="1250">
                <a:solidFill>
                  <a:srgbClr val="1C2533"/>
                </a:solidFill>
                <a:latin typeface="Calibri"/>
              </a:rPr>
              <a:t>recommendations.autoscaling.cast.ai + recommendationconfigs.autoscaling.cast.ai — presence = healthy onboarding.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Generation cadence: </a:t>
            </a:r>
            <a:r>
              <a:rPr sz="1250">
                <a:solidFill>
                  <a:srgbClr val="1C2533"/>
                </a:solidFill>
                <a:latin typeface="Calibri"/>
              </a:rPr>
              <a:t>~30 min; immediate on surge (≥50% over rec, 5 min), OOMKill, CPU stall — with rollout dispatch delays + cooldowns to prevent restart loops.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Events: </a:t>
            </a:r>
            <a:r>
              <a:rPr sz="1250">
                <a:solidFill>
                  <a:srgbClr val="1C2533"/>
                </a:solidFill>
                <a:latin typeface="Calibri"/>
              </a:rPr>
              <a:t>every decision lands in the Event log (15 event types) / API / OpsPilot.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188720"/>
            <a:ext cx="4297680" cy="50292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32588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6BFF"/>
                </a:solidFill>
                <a:latin typeface="Calibri"/>
              </a:rPr>
              <a:t>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691640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0B1B33"/>
                </a:solidFill>
                <a:latin typeface="Calibri"/>
              </a:rPr>
              <a:t>Metrics + PSI + JVM heap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441448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0B1B33"/>
                </a:solidFill>
                <a:latin typeface="Calibri"/>
              </a:rPr>
              <a:t>→ Recommendation engine (~30 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191256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0B1B33"/>
                </a:solidFill>
                <a:latin typeface="Calibri"/>
              </a:rPr>
              <a:t>→ Scaling policy (percentile · overhead · mode)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941063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0B1B33"/>
                </a:solidFill>
                <a:latin typeface="Calibri"/>
              </a:rPr>
              <a:t>→ Recommendation CR in cluster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690872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0B1B33"/>
                </a:solidFill>
                <a:latin typeface="Calibri"/>
              </a:rPr>
              <a:t>→ WAS applies: webhook / eviction / in‑place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5440680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0B1B33"/>
                </a:solidFill>
                <a:latin typeface="Calibri"/>
              </a:rPr>
              <a:t>→ Scheduler → Node Autoscaler consolidates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CAST AI WAS Engineering Guide · researched 2026‑10‑17 · docs.cast.ai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2794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6BFF"/>
                </a:solidFill>
                <a:latin typeface="Calibri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B1B33"/>
                </a:solidFill>
                <a:latin typeface="Calibri"/>
              </a:rPr>
              <a:t>Three ways recommendations get applied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46120"/>
                <a:gridCol w="3246120"/>
                <a:gridCol w="3291840"/>
              </a:tblGrid>
              <a:tr h="701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Immediate (default)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Deferred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In‑place (K8s 1.33+)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Applied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as soon as thresholds exceeded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at natural pod recreation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on running pods, near‑term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Pod restart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yes — Eviction API + webhook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no extra restart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usually none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PDB honored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yes (Eviction API)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fallback honors mode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stateless, fast convergence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stateful, strict PDB, DaemonSets (only mode)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deferred fleets wanting speed without restarts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Gotchas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PDB blocks apply; single‑replica needs zero‑downtime path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convergence depends on pod churn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memory limits never shrink in place; stuck resize → fallback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62356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3434"/>
                </a:solidFill>
                <a:latin typeface="Calibri"/>
              </a:rPr>
              <a:t>Never claim zero downtime — only the single‑replica zero‑downtime path (v0.35.3+, documented prerequisites) and in‑place resizes approach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CAST AI WAS Engineering Guide · researched 2026‑10‑17 · docs.cast.ai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2794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6BFF"/>
                </a:solidFill>
                <a:latin typeface="Calibri"/>
              </a:rPr>
              <a:t>CHAPTERS 2–3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B1B33"/>
                </a:solidFill>
                <a:latin typeface="Calibri"/>
              </a:rPr>
              <a:t>Version floors &amp; workload support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69494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840480"/>
              </a:tblGrid>
              <a:tr h="56007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Minimums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Core WAS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K8s ≥1.18 · automated optimization mode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Native HPA mgmt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WAS v0.44.x · agent v0.60.0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In‑place resize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K8s 1.33+ · WAS v0.53.0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Startup recommendations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K8s 1.33+ · WAS v0.63.1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PSI stall detection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K8s 1.34+ · exporter v0.67.0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Sidecar optimization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WAS v0.56.0 · agent v0.80.0 · exporter v0.2.0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Node‑aware DS sizing (early access)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WAS v0.105.0 · agent v0.123.1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80960" y="1234440"/>
          <a:ext cx="4023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286000"/>
              </a:tblGrid>
              <a:tr h="56007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Kind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Modes / HPA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imm+def · HPA 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StatefulSet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imm+def · HPA ✓ (v0.13.0)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DaemonSet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deferred only · HPA 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Rollout (Argo)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def default · imm v0.21.0+ · HPA ✓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ReplicaSet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imm+def · HPA ✓ (v0.32.0)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CronJob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imm+def · HPA ✗ (v0.44.3)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Custom/CRD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v0.18.0 · label-based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CAST AI WAS Engineering Guide · researched 2026‑10‑17 · docs.cast.ai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2794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6BFF"/>
                </a:solidFill>
                <a:latin typeface="Calibri"/>
              </a:rPr>
              <a:t>CHAPTER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B1B33"/>
                </a:solidFill>
                <a:latin typeface="Calibri"/>
              </a:rPr>
              <a:t>Install modes &amp; onboarding paths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  <a:gridCol w="2743200"/>
                <a:gridCol w="3108960"/>
              </a:tblGrid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Umbrella chart tag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Rightsizing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Node provisioning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Needs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readonly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nothing (evaluation)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workload-autoscaler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no IAM/Terraform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node-autoscaler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Terraform for cloud IAM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Terraform for cloud IAM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931920"/>
            <a:ext cx="1115568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Install ≠ enable: </a:t>
            </a:r>
            <a:r>
              <a:rPr sz="1250">
                <a:solidFill>
                  <a:srgbClr val="1C2533"/>
                </a:solidFill>
                <a:latin typeface="Calibri"/>
              </a:rPr>
              <a:t>mode gives recommendations only — automation is per policy/workload. New clusters (&lt;24h) get automatic gradual scaling.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Paths: </a:t>
            </a:r>
            <a:r>
              <a:rPr sz="1250">
                <a:solidFill>
                  <a:srgbClr val="1C2533"/>
                </a:solidFill>
                <a:latin typeface="Calibri"/>
              </a:rPr>
              <a:t>Console script · castctl · umbrella Helm chart · Terraform (provider; policy CRUD needs v7.58.3+) · Argo CD (agent excluded — it self‑updates).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Verify: </a:t>
            </a:r>
            <a:r>
              <a:rPr sz="1250">
                <a:solidFill>
                  <a:srgbClr val="1C2533"/>
                </a:solidFill>
                <a:latin typeface="Calibri"/>
              </a:rPr>
              <a:t>2 WAS pods + exporter DS + both CRDs + webhook + first recs ≤30 min. Upgrade with Helm self‑test (--set ...test.enabled=true) &amp; --reset-then-reuse-values.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Watch-outs: </a:t>
            </a:r>
            <a:r>
              <a:rPr sz="1250">
                <a:solidFill>
                  <a:srgbClr val="1C2533"/>
                </a:solidFill>
                <a:latin typeface="Calibri"/>
              </a:rPr>
              <a:t>AKS Admissions Enforcer (v0.74.1+ handles, revert via RestoreTool) · Argo resourceTrackingMethod ≠ annotation on huge clusters.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CAST AI WAS Engineering Guide · researched 2026‑10‑17 · docs.cast.ai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2794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6BFF"/>
                </a:solidFill>
                <a:latin typeface="Calibri"/>
              </a:rPr>
              <a:t>CHAPTER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B1B33"/>
                </a:solidFill>
                <a:latin typeface="Calibri"/>
              </a:rPr>
              <a:t>Scaling policies — the unit of management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6858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</a:tblGrid>
              <a:tr h="52251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System policy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 for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stability / resiliency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mission‑critical &amp; stateful (StatefulSets auto‑assigned to resiliency)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balanced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default for most workloads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cost-savings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dev, batch, cost‑first fleets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burstable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sudden traffic spikes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readonly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detection/reporting 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default* (deprecated)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C2533"/>
                          </a:solidFill>
                          <a:latin typeface="Calibri"/>
                        </a:rPr>
                        <a:t>legacy clusters only — migrate off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35240" y="1280160"/>
            <a:ext cx="40233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E6BFF"/>
                </a:solidFill>
                <a:latin typeface="Calibri"/>
              </a:rPr>
              <a:t>▪ </a:t>
            </a:r>
            <a:r>
              <a:rPr sz="1200" b="1">
                <a:solidFill>
                  <a:srgbClr val="0B1B33"/>
                </a:solidFill>
                <a:latin typeface="Calibri"/>
              </a:rPr>
              <a:t>Automation ships OFF </a:t>
            </a:r>
            <a:r>
              <a:rPr sz="1200">
                <a:solidFill>
                  <a:srgbClr val="1C2533"/>
                </a:solidFill>
                <a:latin typeface="Calibri"/>
              </a:rPr>
              <a:t>on every system policy — nothing changes until you enable it.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E6BFF"/>
                </a:solidFill>
                <a:latin typeface="Calibri"/>
              </a:rPr>
              <a:t>▪ </a:t>
            </a:r>
            <a:r>
              <a:rPr sz="1200" b="1">
                <a:solidFill>
                  <a:srgbClr val="0B1B33"/>
                </a:solidFill>
                <a:latin typeface="Calibri"/>
              </a:rPr>
              <a:t>Precedence: </a:t>
            </a:r>
            <a:r>
              <a:rPr sz="1200">
                <a:solidFill>
                  <a:srgbClr val="1C2533"/>
                </a:solidFill>
                <a:latin typeface="Calibri"/>
              </a:rPr>
              <a:t>annotation scalingPolicyName → manual assign → rules (AND conditions, OR rules, priority order, stop‑on‑match) → default profiling.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12064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B1B33"/>
                </a:solidFill>
                <a:latin typeface="Calibri"/>
              </a:rPr>
              <a:t>Workload annotation overrides: </a:t>
            </a:r>
            <a:r>
              <a:rPr sz="1250" b="0">
                <a:solidFill>
                  <a:srgbClr val="1C2533"/>
                </a:solidFill>
                <a:latin typeface="Calibri"/>
              </a:rPr>
              <a:t>vertical = field‑level; horizontal (HPA) = full‑object override that persists across policy moves.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C2533"/>
                </a:solidFill>
                <a:latin typeface="Calibri"/>
              </a:rPr>
              <a:t>OpsPilot can generate policies+rules from cluster analysis — treat as a reviewed draft, not gospel.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CAST AI WAS Engineering Guide · researched 2026‑10‑17 · docs.cast.ai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2794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6BFF"/>
                </a:solidFill>
                <a:latin typeface="Calibri"/>
              </a:rPr>
              <a:t>CHAPTER 5 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B1B33"/>
                </a:solidFill>
                <a:latin typeface="Calibri"/>
              </a:rPr>
              <a:t>The 10 knobs that matter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55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3566160"/>
                <a:gridCol w="347472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Knob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[Default]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[Suggested] start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Watch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Apply type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immediate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immediate stateless / deferred stateful+PDB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immediate = PDB‑honored eviction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CPU percentile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p80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p80 (p90 critical)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ignored when HPA active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Memory target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keep max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lower only with JVM heap sizing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CPU overhead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10–15% (20–25% critical)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ignored under HPA (auto); max 250%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Memory overhead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15–30%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OOM buffer — the seatbelt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Sensitivity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10% / dynamic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dynamic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too low = restart churn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Look‑back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1 day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3–7d for weekly patterns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3h–7d; longer = slower confidence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Min/Max constraints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always set in prod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protects every other knob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Startup mode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startup‑recommendations (K8s 1.33+)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CPU‑only, 2‑phase, in‑place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Confidence threshold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90% (50–80% dev)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lower = faster, noisier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CAST AI WAS Engineering Guide · researched 2026‑10‑17 · docs.cast.ai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2794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6BFF"/>
                </a:solidFill>
                <a:latin typeface="Calibri"/>
              </a:rPr>
              <a:t>CHAPTER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B1B33"/>
                </a:solidFill>
                <a:latin typeface="Calibri"/>
              </a:rPr>
              <a:t>Safety machinery you should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11556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0800" cy="114300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0759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1B33"/>
                </a:solidFill>
                <a:latin typeface="Calibri"/>
              </a:rPr>
              <a:t>PSI stall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36776"/>
            <a:ext cx="108630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K8s 1.34+; upscales on hidden CPU contention. Policy defaults: stability 5%, balanced 10%, cost‑saving 30%, burstable 50%; pod threshold 50%; 15‑min cooldown. Only fires when HPA is already at max.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32888"/>
            <a:ext cx="111556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532888"/>
            <a:ext cx="50800" cy="1143000"/>
          </a:xfrm>
          <a:prstGeom prst="rect">
            <a:avLst/>
          </a:prstGeom>
          <a:solidFill>
            <a:srgbClr val="33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6060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1B33"/>
                </a:solidFill>
                <a:latin typeface="Calibri"/>
              </a:rPr>
              <a:t>Confidence &amp; gradual 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935224"/>
            <a:ext cx="108630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90% default threshold; new clusters: ≤10%/25%/35% adjustment caps at 2.4/6/24h; manually enabled workloads bypass; hibernation stalls confidence.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31335"/>
            <a:ext cx="111556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831335"/>
            <a:ext cx="50800" cy="1143000"/>
          </a:xfrm>
          <a:prstGeom prst="rect">
            <a:avLst/>
          </a:prstGeom>
          <a:solidFill>
            <a:srgbClr val="C93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3904487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1B33"/>
                </a:solidFill>
                <a:latin typeface="Calibri"/>
              </a:rPr>
              <a:t>OOM handling (built‑in)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4233671"/>
            <a:ext cx="108630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immediate memory floor ≈ peak ×1.2, bypasses rollout delay, ≥2h anti‑flap; repeated &lt;10‑min OOM loops can auto‑disable the workload (event‑logged).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129783"/>
            <a:ext cx="111556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129783"/>
            <a:ext cx="50800" cy="1143000"/>
          </a:xfrm>
          <a:prstGeom prst="rect">
            <a:avLst/>
          </a:prstGeom>
          <a:solidFill>
            <a:srgbClr val="1F9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5202935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1B33"/>
                </a:solidFill>
                <a:latin typeface="Calibri"/>
              </a:rPr>
              <a:t>Reaction gating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5532119"/>
            <a:ext cx="108630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vertical.downscaling.applyType (incl. notAllowed) · vertical.memoryEvent.applyType — keep memory events immediate.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CAST AI WAS Engineering Guide · researched 2026‑10‑17 · docs.cast.ai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2794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6BFF"/>
                </a:solidFill>
                <a:latin typeface="Calibri"/>
              </a:rPr>
              <a:t>CHAPTER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B1B33"/>
                </a:solidFill>
                <a:latin typeface="Calibri"/>
              </a:rPr>
              <a:t>HPA, VPA &amp; KEDA — the interaction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585216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The drift problem: </a:t>
            </a:r>
            <a:r>
              <a:rPr sz="1250">
                <a:solidFill>
                  <a:srgbClr val="1C2533"/>
                </a:solidFill>
                <a:latin typeface="Calibri"/>
              </a:rPr>
              <a:t>HPA % targets ride on requests — rightsizing a 1000m request to 200m silently moves a 50% target from 500m to 100m.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Fix A — converter: </a:t>
            </a:r>
            <a:r>
              <a:rPr sz="1250">
                <a:solidFill>
                  <a:srgbClr val="1C2533"/>
                </a:solidFill>
                <a:latin typeface="Calibri"/>
              </a:rPr>
              <a:t>hpaConverters: AverageValueFromOriginalRequests freezes intent into absolute targets.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Fix B — WAS‑managed HPA: </a:t>
            </a:r>
            <a:r>
              <a:rPr sz="1250">
                <a:solidFill>
                  <a:srgbClr val="1C2533"/>
                </a:solidFill>
                <a:latin typeface="Calibri"/>
              </a:rPr>
              <a:t>native autoscaling/v2 objects; simulation calibrates CPU across cost/latency/saturation/churn; CPU percentile+overhead become automatic.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Ownership: </a:t>
            </a:r>
            <a:r>
              <a:rPr sz="1250">
                <a:solidFill>
                  <a:srgbClr val="1C2533"/>
                </a:solidFill>
                <a:latin typeface="Calibri"/>
              </a:rPr>
              <a:t>only CPU/memory‑trigger native HPAs are eligible; KEDA/third‑party‑owned are skipped by design; override at workload level = full object.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Predictive scaling </a:t>
            </a:r>
            <a:r>
              <a:rPr sz="1250">
                <a:solidFill>
                  <a:srgbClr val="1C2533"/>
                </a:solidFill>
                <a:latin typeface="Calibri"/>
              </a:rPr>
              <a:t>is auto‑disabled on HPA‑managed workloads.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75120" y="1280160"/>
          <a:ext cx="50292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560320"/>
              </a:tblGrid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KEDA ScaledObject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WAS coordination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CPU/memory 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full simulation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CPU/mem + custom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limited calibration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custom 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vertical‑only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ScaledJobs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not supported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75120" y="388620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B1B33"/>
                </a:solidFill>
                <a:latin typeface="Calibri"/>
              </a:rPr>
              <a:t>Legacy → native migration: 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533"/>
                </a:solidFill>
                <a:latin typeface="Calibri"/>
              </a:rPr>
              <a:t>eligibility Full/Partial/Blocked/None; preserves min/max replicas; console + MigrateClusterToHpaV2 API; annotation‑managed workloads need manual steps.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CAST AI WAS Engineering Guide · researched 2026‑10‑17 · docs.cast.ai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2794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6BFF"/>
                </a:solidFill>
                <a:latin typeface="Calibri"/>
              </a:rPr>
              <a:t>CHAPTER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B1B33"/>
                </a:solidFill>
                <a:latin typeface="Calibri"/>
              </a:rPr>
              <a:t>Advanced optimization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11556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0800" cy="114300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0759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1B33"/>
                </a:solidFill>
                <a:latin typeface="Calibri"/>
              </a:rPr>
              <a:t>JVM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36776"/>
            <a:ext cx="108630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Heap‑aware memory recs (container metrics lie for JVM). 3 paths: auto‑instrumentation (Java 9+), endpoint scraping, your Prometheus. Auto‑detected; watch security‑policy init‑container rejections.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32888"/>
            <a:ext cx="111556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532888"/>
            <a:ext cx="50800" cy="1143000"/>
          </a:xfrm>
          <a:prstGeom prst="rect">
            <a:avLst/>
          </a:prstGeom>
          <a:solidFill>
            <a:srgbClr val="33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6060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1B33"/>
                </a:solidFill>
                <a:latin typeface="Calibri"/>
              </a:rPr>
              <a:t>Predictive CPU 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935224"/>
            <a:ext cx="108630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Pre‑positions requests for periodic demand. Not with HPA (auto‑disabled). No numeric knobs — eligibility is detected; validate around known peaks.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31335"/>
            <a:ext cx="111556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831335"/>
            <a:ext cx="50800" cy="1143000"/>
          </a:xfrm>
          <a:prstGeom prst="rect">
            <a:avLst/>
          </a:prstGeom>
          <a:solidFill>
            <a:srgbClr val="1F9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3904487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1B33"/>
                </a:solidFill>
                <a:latin typeface="Calibri"/>
              </a:rPr>
              <a:t>Startup 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4233671"/>
            <a:ext cx="108630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Original CPU during startup period → in‑place resize to optimized. CPU‑only; skipped if Δ&lt;100m; small bin‑packing cost during startups.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129783"/>
            <a:ext cx="111556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129783"/>
            <a:ext cx="50800" cy="114300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5202935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1B33"/>
                </a:solidFill>
                <a:latin typeface="Calibri"/>
              </a:rPr>
              <a:t>Node‑aware DaemonSet sizing (early access)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5532119"/>
            <a:ext cx="108630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Requests = % of node allocatable at admission; per‑container; clamped by min/max; incompatible with keepLimits; annotations only for now.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CAST AI WAS Engineering Guide · researched 2026‑10‑17 · docs.cast.ai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2794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6BFF"/>
                </a:solidFill>
                <a:latin typeface="Calibri"/>
              </a:rPr>
              <a:t>CHAPTER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B1B33"/>
                </a:solidFill>
                <a:latin typeface="Calibri"/>
              </a:rPr>
              <a:t>GitOps &amp; Infrastructure as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E6BFF"/>
                </a:solidFill>
                <a:latin typeface="Calibri"/>
              </a:rPr>
              <a:t>▪ </a:t>
            </a:r>
            <a:r>
              <a:rPr sz="1300" b="1">
                <a:solidFill>
                  <a:srgbClr val="0B1B33"/>
                </a:solidFill>
                <a:latin typeface="Calibri"/>
              </a:rPr>
              <a:t>Ownership split: </a:t>
            </a:r>
            <a:r>
              <a:rPr sz="1300">
                <a:solidFill>
                  <a:srgbClr val="1C2533"/>
                </a:solidFill>
                <a:latin typeface="Calibri"/>
              </a:rPr>
              <a:t>Terraform → registration/IAM/node configs/policies (+agent Helm release) · Argo CD → evictor, cluster‑controller, WAS, exporter, pod‑pinner · annotations → workload overrides.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E6BFF"/>
                </a:solidFill>
                <a:latin typeface="Calibri"/>
              </a:rPr>
              <a:t>▪ </a:t>
            </a:r>
            <a:r>
              <a:rPr sz="1300" b="1">
                <a:solidFill>
                  <a:srgbClr val="0B1B33"/>
                </a:solidFill>
                <a:latin typeface="Calibri"/>
              </a:rPr>
              <a:t>The drift war: </a:t>
            </a:r>
            <a:r>
              <a:rPr sz="1300">
                <a:solidFill>
                  <a:srgbClr val="1C2533"/>
                </a:solidFill>
                <a:latin typeface="Calibri"/>
              </a:rPr>
              <a:t>GitOps reverts resources: while WAS patches them at admission. Solutions, in order: remove resources from Git · use CAST AI's APA runbook to sync recommendations back to Git · ignoreDifferences (blind spot).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E6BFF"/>
                </a:solidFill>
                <a:latin typeface="Calibri"/>
              </a:rPr>
              <a:t>▪ </a:t>
            </a:r>
            <a:r>
              <a:rPr sz="1300" b="1">
                <a:solidFill>
                  <a:srgbClr val="0B1B33"/>
                </a:solidFill>
                <a:latin typeface="Calibri"/>
              </a:rPr>
              <a:t>One system of record for policies </a:t>
            </a:r>
            <a:r>
              <a:rPr sz="1300">
                <a:solidFill>
                  <a:srgbClr val="1C2533"/>
                </a:solidFill>
                <a:latin typeface="Calibri"/>
              </a:rPr>
              <a:t>(Terraform OR console OR API) — mixing silently overwrites.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E6BFF"/>
                </a:solidFill>
                <a:latin typeface="Calibri"/>
              </a:rPr>
              <a:t>▪ </a:t>
            </a:r>
            <a:r>
              <a:rPr sz="1300" b="1">
                <a:solidFill>
                  <a:srgbClr val="0B1B33"/>
                </a:solidFill>
                <a:latin typeface="Calibri"/>
              </a:rPr>
              <a:t>HPA in Git: </a:t>
            </a:r>
            <a:r>
              <a:rPr sz="1300">
                <a:solidFill>
                  <a:srgbClr val="1C2533"/>
                </a:solidFill>
                <a:latin typeface="Calibri"/>
              </a:rPr>
              <a:t>if WAS takes ownership, delete/ignore the HPA manifest — otherwise GitOps fights the managed HPA.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251960"/>
            <a:ext cx="11155680" cy="173736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1B33"/>
                </a:solidFill>
                <a:latin typeface="Calibri"/>
              </a:rPr>
              <a:t>Argo CD specifics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533"/>
                </a:solidFill>
                <a:latin typeface="Calibri"/>
              </a:rPr>
              <a:t>→ resourceTrackingMethod: annotation+label (annotation-only melts the K8s API on &gt;100k‑pod clusters)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533"/>
                </a:solidFill>
                <a:latin typeface="Calibri"/>
              </a:rPr>
              <a:t>→ ignore Recommendation CRs in app diffs (cluster state, not desired state)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533"/>
                </a:solidFill>
                <a:latin typeface="Calibri"/>
              </a:rPr>
              <a:t>→ pin chart versions; use --reset-then-reuse-values for upgrades; --version pin for config‑only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CAST AI WAS Engineering Guide · researched 2026‑10‑17 · docs.cast.ai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2794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6BFF"/>
                </a:solidFill>
                <a:latin typeface="Calibri"/>
              </a:rPr>
              <a:t>CHAPTER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B1B33"/>
                </a:solidFill>
                <a:latin typeface="Calibri"/>
              </a:rPr>
              <a:t>Best practices per workload class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556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657600"/>
                <a:gridCol w="4846320"/>
              </a:tblGrid>
              <a:tr h="66620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Policy + mode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knobs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Mission‑critical APIs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stability clone · immediate · 1‑by‑1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p80–p90 · ovh CPU .15–.25 / mem .2–.35 · look‑back 3–7d · min floors ≥ boot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High‑traffic web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balanced · immediate · dynamic sens.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under HPA: tune HPA behavior; mem ovh ≥.15; startup recs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JVM services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balanced + jvm.enabled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heap‑based mem · ovh .15–.25 · maintainRatio limits · look‑back ≥3d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Batch / CronJobs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cost‑savings · deferred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mem max + .25 · floor 50m (jobLike) · skip 7‑day‑no‑metrics jobs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Stateful (DB/broker)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resiliency · deferred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downscaling notAllowed · keepLimits · PDB maxUnavailable:1 · 1‑by‑1 if immediate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Low‑traffic / dev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cost‑savings · immediate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p60–p70 · ovh .05–.10 · small min constraints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CAST AI WAS Engineering Guide · researched 2026‑10‑17 · docs.cast.ai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2794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6BFF"/>
                </a:solidFill>
                <a:latin typeface="Calibri"/>
              </a:rPr>
              <a:t>CHAPTER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B1B33"/>
                </a:solidFill>
                <a:latin typeface="Calibri"/>
              </a:rPr>
              <a:t>Troubleshooting — first moves that solve 80%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7432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0800" cy="237744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5331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1B33"/>
                </a:solidFill>
                <a:latin typeface="Calibri"/>
              </a:rPr>
              <a:t>1 · Event log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82496"/>
            <a:ext cx="24505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A6472"/>
                </a:solidFill>
                <a:latin typeface="Calibri"/>
              </a:rPr>
              <a:t>or ask OpsPilot 'why this recommendation?' — 15 typed events incl. PDB blocks, stalls, OOM reactions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1280160"/>
            <a:ext cx="27432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5848" y="1280160"/>
            <a:ext cx="50800" cy="2377440"/>
          </a:xfrm>
          <a:prstGeom prst="rect">
            <a:avLst/>
          </a:prstGeom>
          <a:solidFill>
            <a:srgbClr val="33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35331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1B33"/>
                </a:solidFill>
                <a:latin typeface="Calibri"/>
              </a:rPr>
              <a:t>2 · CRs &amp; components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682496"/>
            <a:ext cx="24505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A6472"/>
                </a:solidFill>
                <a:latin typeface="Calibri"/>
              </a:rPr>
              <a:t>kubectl get recommendations.autoscaling.cast.ai -A · WAS 2 pods ready · exporter DS = nodes · webhook present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1280160"/>
            <a:ext cx="27432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1280160"/>
            <a:ext cx="50800" cy="2377440"/>
          </a:xfrm>
          <a:prstGeom prst="rect">
            <a:avLst/>
          </a:prstGeom>
          <a:solidFill>
            <a:srgbClr val="1F9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5331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1B33"/>
                </a:solidFill>
                <a:latin typeface="Calibri"/>
              </a:rPr>
              <a:t>3 · No recs?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82496"/>
            <a:ext cx="24505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A6472"/>
                </a:solidFill>
                <a:latin typeface="Calibri"/>
              </a:rPr>
              <a:t>metrics-server · CRDs · ignore label (use whitelisting) · policy automation off · no metrics in 7d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61704" y="1280160"/>
            <a:ext cx="27432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61704" y="1280160"/>
            <a:ext cx="50800" cy="237744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6296" y="135331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1B33"/>
                </a:solidFill>
                <a:latin typeface="Calibri"/>
              </a:rPr>
              <a:t>4 · Recs not applied?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1682496"/>
            <a:ext cx="24505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A6472"/>
                </a:solidFill>
                <a:latin typeface="Calibri"/>
              </a:rPr>
              <a:t>deferred without pod churn · sensitivity/confidence gates · eviction‑delay annotation · quota/LimitRange clamps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977639"/>
            <a:ext cx="1115568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PDB blocking eviction: </a:t>
            </a:r>
            <a:r>
              <a:rPr sz="1250">
                <a:solidFill>
                  <a:srgbClr val="1C2533"/>
                </a:solidFill>
                <a:latin typeface="Calibri"/>
              </a:rPr>
              <a:t>relax PDB or go deferred — never delete the PDB for the optimizer.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Throttling after rightsizing: </a:t>
            </a:r>
            <a:r>
              <a:rPr sz="1250">
                <a:solidFill>
                  <a:srgbClr val="1C2533"/>
                </a:solidFill>
                <a:latin typeface="Calibri"/>
              </a:rPr>
              <a:t>raise CPU overhead before percentile; under HPA, tune the HPA target (CPU knobs are auto).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OOM loops: </a:t>
            </a:r>
            <a:r>
              <a:rPr sz="1250">
                <a:solidFill>
                  <a:srgbClr val="1C2533"/>
                </a:solidFill>
                <a:latin typeface="Calibri"/>
              </a:rPr>
              <a:t>WAS floors mem ~1.2× peak automatically; repeated loops → it auto‑disables the workload (event‑logged) — re‑enable after stabilizing.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Optimization works, savings invisible: </a:t>
            </a:r>
            <a:r>
              <a:rPr sz="1250">
                <a:solidFill>
                  <a:srgbClr val="1C2533"/>
                </a:solidFill>
                <a:latin typeface="Calibri"/>
              </a:rPr>
              <a:t>modeled vs realized — check node consolidation (Ch. 13); cluster &lt;14d old is absent from the report, not zero.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CAST AI WAS Engineering Guide · researched 2026‑10‑17 · docs.cast.ai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2794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6BFF"/>
                </a:solidFill>
                <a:latin typeface="Calibri"/>
              </a:rPr>
              <a:t>CHAPTER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B1B33"/>
                </a:solidFill>
                <a:latin typeface="Calibri"/>
              </a:rPr>
              <a:t>Monitoring &amp; alerting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58368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CAST AI metrics API: </a:t>
            </a:r>
            <a:r>
              <a:rPr sz="1250">
                <a:solidFill>
                  <a:srgbClr val="1C2533"/>
                </a:solidFill>
                <a:latin typeface="Calibri"/>
              </a:rPr>
              <a:t>scrape /v1/metrics/workloads (+ /prom, /nodes) straight into Prometheus — requested vs usage vs cost per workload.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Dashboard panels: </a:t>
            </a:r>
            <a:r>
              <a:rPr sz="1250">
                <a:solidFill>
                  <a:srgbClr val="1C2533"/>
                </a:solidFill>
                <a:latin typeface="Calibri"/>
              </a:rPr>
              <a:t>A rightsizing (actual/requested/recommended, confidence) · B automation health (coverage, lag, webhook) · C workload safety (OOM, throttling, PSI, restarts, resize‑pending) · D money (original vs requested, provisioned).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Not in Prometheus: </a:t>
            </a:r>
            <a:r>
              <a:rPr sz="1250">
                <a:solidFill>
                  <a:srgbClr val="1C2533"/>
                </a:solidFill>
                <a:latin typeface="Calibri"/>
              </a:rPr>
              <a:t>simulation internals (event‑log JSON) · savings reports · JVM heap (until enabled).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60920" y="1280160"/>
          <a:ext cx="4343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1280160"/>
              </a:tblGrid>
              <a:tr h="467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Alert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533"/>
                          </a:solidFill>
                          <a:latin typeface="Calibri"/>
                        </a:rPr>
                        <a:t>WAS replicas &lt; 2 (10m)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533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533"/>
                          </a:solidFill>
                          <a:latin typeface="Calibri"/>
                        </a:rPr>
                        <a:t>Webhook errors &gt; 0 (5m)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533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533"/>
                          </a:solidFill>
                          <a:latin typeface="Calibri"/>
                        </a:rPr>
                        <a:t>Failed CR create events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533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533"/>
                          </a:solidFill>
                          <a:latin typeface="Calibri"/>
                        </a:rPr>
                        <a:t>OOMKilled ≥3 / 1h / workload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533"/>
                          </a:solidFill>
                          <a:latin typeface="Calibri"/>
                        </a:rPr>
                        <a:t>warning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533"/>
                          </a:solidFill>
                          <a:latin typeface="Calibri"/>
                        </a:rPr>
                        <a:t>Throttle ratio &gt; 20% post‑apply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533"/>
                          </a:solidFill>
                          <a:latin typeface="Calibri"/>
                        </a:rPr>
                        <a:t>warning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533"/>
                          </a:solidFill>
                          <a:latin typeface="Calibri"/>
                        </a:rPr>
                        <a:t>PodResizePending &gt; 30m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533"/>
                          </a:solidFill>
                          <a:latin typeface="Calibri"/>
                        </a:rPr>
                        <a:t>warning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533"/>
                          </a:solidFill>
                          <a:latin typeface="Calibri"/>
                        </a:rPr>
                        <a:t>Optimization auto‑disabled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533"/>
                          </a:solidFill>
                          <a:latin typeface="Calibri"/>
                        </a:rPr>
                        <a:t>warning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533"/>
                          </a:solidFill>
                          <a:latin typeface="Calibri"/>
                        </a:rPr>
                        <a:t>PDB blocks &gt; 6h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533"/>
                          </a:solidFill>
                          <a:latin typeface="Calibri"/>
                        </a:rPr>
                        <a:t>info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CAST AI WAS Engineering Guide · researched 2026‑10‑17 · docs.cast.ai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2794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6BFF"/>
                </a:solidFill>
                <a:latin typeface="Calibri"/>
              </a:rPr>
              <a:t>CHAPTER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B1B33"/>
                </a:solidFill>
                <a:latin typeface="Calibri"/>
              </a:rPr>
              <a:t>Savings &amp; FinOps — measured vs modeled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1155680" cy="1051560"/>
          </a:xfrm>
          <a:prstGeom prst="rect">
            <a:avLst/>
          </a:prstGeom>
          <a:solidFill>
            <a:srgbClr val="DD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B33"/>
                </a:solidFill>
                <a:latin typeface="Calibri"/>
              </a:rPr>
              <a:t>smaller requests → less schedulable demand → node consolidation → lower bill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C2533"/>
                </a:solidFill>
                <a:latin typeface="Calibri"/>
              </a:rPr>
              <a:t>Rightsizing alone does NOT cut the invoice — modeled WAS savings become realized only when node capacity shrinks (Node Autoscaler or manual bin‑packing).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1115568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Baseline model: </a:t>
            </a:r>
            <a:r>
              <a:rPr sz="1250">
                <a:solidFill>
                  <a:srgbClr val="1C2533"/>
                </a:solidFill>
                <a:latin typeface="Calibri"/>
              </a:rPr>
              <a:t>CPU/RAM overprovisioning factors + unit costs over a baseline window; applied to today's demand. Selection: cluster history (≥7d pre‑management) → peer clusters → industry average.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Eligibility: </a:t>
            </a:r>
            <a:r>
              <a:rPr sz="1250">
                <a:solidFill>
                  <a:srgbClr val="1C2533"/>
                </a:solidFill>
                <a:latin typeface="Calibri"/>
              </a:rPr>
              <a:t>cluster ≥14 days old + actively managed — otherwise ABSENT from the report (not zero). Manual baseline review possible.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Anti‑double‑counting: </a:t>
            </a:r>
            <a:r>
              <a:rPr sz="1250">
                <a:solidFill>
                  <a:srgbClr val="1C2533"/>
                </a:solidFill>
                <a:latin typeface="Calibri"/>
              </a:rPr>
              <a:t>Node Autoscaler on ⇒ WAS savings already inside realized (report once); off ⇒ WAS savings are potential only.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E6BFF"/>
                </a:solidFill>
                <a:latin typeface="Calibri"/>
              </a:rPr>
              <a:t>▪ </a:t>
            </a:r>
            <a:r>
              <a:rPr sz="1250" b="1">
                <a:solidFill>
                  <a:srgbClr val="0B1B33"/>
                </a:solidFill>
                <a:latin typeface="Calibri"/>
              </a:rPr>
              <a:t>Validation checklist: </a:t>
            </a:r>
            <a:r>
              <a:rPr sz="1250">
                <a:solidFill>
                  <a:srgbClr val="1C2533"/>
                </a:solidFill>
                <a:latin typeface="Calibri"/>
              </a:rPr>
              <a:t>baseline type known · node consolidation verified · requested‑vs‑original trend matches rollout · one‑line mapping 'realized + available' · fees reconciled.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25780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B1B33"/>
                </a:solidFill>
                <a:latin typeface="Calibri"/>
              </a:rPr>
              <a:t>Worked example (hypothetical): </a:t>
            </a:r>
            <a:r>
              <a:rPr sz="1250" b="0">
                <a:solidFill>
                  <a:srgbClr val="1C2533"/>
                </a:solidFill>
                <a:latin typeface="Calibri"/>
              </a:rPr>
              <a:t>140 CPU + 240 GiB request reduction ≈ $3.9k/mo modeled; realized only for the portion where nodes actually left.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CAST AI WAS Engineering Guide · researched 2026‑10‑17 · docs.cast.ai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2794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6BFF"/>
                </a:solidFill>
                <a:latin typeface="Calibri"/>
              </a:rPr>
              <a:t>CHAPTER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B1B33"/>
                </a:solidFill>
                <a:latin typeface="Calibri"/>
              </a:rPr>
              <a:t>Production adoption — 8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7432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0800" cy="210312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5331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1B33"/>
                </a:solidFill>
                <a:latin typeface="Calibri"/>
              </a:rPr>
              <a:t>P0 Preflight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82496"/>
            <a:ext cx="245059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Calibri"/>
              </a:rPr>
              <a:t>inventory: kinds, HPAs, PDBs, quotas, SLOs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4136" y="1280160"/>
            <a:ext cx="27432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4136" y="1280160"/>
            <a:ext cx="50800" cy="2103120"/>
          </a:xfrm>
          <a:prstGeom prst="rect">
            <a:avLst/>
          </a:prstGeom>
          <a:solidFill>
            <a:srgbClr val="33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35331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1B33"/>
                </a:solidFill>
                <a:latin typeface="Calibri"/>
              </a:rPr>
              <a:t>P1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1682496"/>
            <a:ext cx="245059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Calibri"/>
              </a:rPr>
              <a:t>install, automation OFF, verify components+CRDs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280160"/>
            <a:ext cx="27432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1280160"/>
            <a:ext cx="50800" cy="2103120"/>
          </a:xfrm>
          <a:prstGeom prst="rect">
            <a:avLst/>
          </a:prstGeom>
          <a:solidFill>
            <a:srgbClr val="1F9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35331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1B33"/>
                </a:solidFill>
                <a:latin typeface="Calibri"/>
              </a:rPr>
              <a:t>P2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682496"/>
            <a:ext cx="245059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Calibri"/>
              </a:rPr>
              <a:t>3–7 days of recs; policy map; JVM list; HPA strategy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16568" y="1280160"/>
            <a:ext cx="27432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16568" y="1280160"/>
            <a:ext cx="50800" cy="21031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35331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1B33"/>
                </a:solidFill>
                <a:latin typeface="Calibri"/>
              </a:rPr>
              <a:t>P3 Controlled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682496"/>
            <a:ext cx="245059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Calibri"/>
              </a:rPr>
              <a:t>one low‑risk group, immediate, 48h soak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611880"/>
            <a:ext cx="27432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611880"/>
            <a:ext cx="50800" cy="210312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368503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1B33"/>
                </a:solidFill>
                <a:latin typeface="Calibri"/>
              </a:rPr>
              <a:t>P4 Prod waves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4014216"/>
            <a:ext cx="245059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Calibri"/>
              </a:rPr>
              <a:t>web → traffic → JVM → stateful → batch; abort= policy automation off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74136" y="3611880"/>
            <a:ext cx="27432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74136" y="3611880"/>
            <a:ext cx="50800" cy="2103120"/>
          </a:xfrm>
          <a:prstGeom prst="rect">
            <a:avLst/>
          </a:prstGeom>
          <a:solidFill>
            <a:srgbClr val="33C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38728" y="368503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1B33"/>
                </a:solidFill>
                <a:latin typeface="Calibri"/>
              </a:rPr>
              <a:t>P5 Advanced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8728" y="4014216"/>
            <a:ext cx="245059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Calibri"/>
              </a:rPr>
              <a:t>in‑place · startup recs · predictive · PSI · DS sizing (gates: K8s 1.33/1.34)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5352" y="3611880"/>
            <a:ext cx="27432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45352" y="3611880"/>
            <a:ext cx="50800" cy="2103120"/>
          </a:xfrm>
          <a:prstGeom prst="rect">
            <a:avLst/>
          </a:prstGeom>
          <a:solidFill>
            <a:srgbClr val="1F9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368503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1B33"/>
                </a:solidFill>
                <a:latin typeface="Calibri"/>
              </a:rPr>
              <a:t>P6 FinOps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9944" y="4014216"/>
            <a:ext cx="245059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Calibri"/>
              </a:rPr>
              <a:t>validate savings vs consolidation; finance sign‑off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16568" y="3611880"/>
            <a:ext cx="27432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16568" y="3611880"/>
            <a:ext cx="50800" cy="21031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368503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1B33"/>
                </a:solidFill>
                <a:latin typeface="Calibri"/>
              </a:rPr>
              <a:t>P7 Tune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4014216"/>
            <a:ext cx="245059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472"/>
                </a:solidFill>
                <a:latin typeface="Calibri"/>
              </a:rPr>
              <a:t>monthly event‑log+coverage review; quarterly knobs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CAST AI WAS Engineering Guide · researched 2026‑10‑17 · docs.cast.ai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27940"/>
          </a:xfrm>
          <a:prstGeom prst="rect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6BFF"/>
                </a:solidFill>
                <a:latin typeface="Calibri"/>
              </a:rPr>
              <a:t>CHAPTER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B1B33"/>
                </a:solidFill>
                <a:latin typeface="Calibri"/>
              </a:rPr>
              <a:t>Case studies (hypothetical, documented mechanics)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206240"/>
                <a:gridCol w="3840480"/>
              </a:tblGrid>
              <a:tr h="716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Case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Fix that worked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Effect (assumptions stated in ch.16)</a:t>
                      </a:r>
                    </a:p>
                  </a:txBody>
                  <a:tcPr marL="54864" marR="54864" marT="18288" marB="18288" anchor="ctr">
                    <a:solidFill>
                      <a:srgbClr val="0B1B33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CPU‑overprovisioned API (8×1000m)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balanced-ish policy, p80+0.15, immediate 1‑by‑1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req ≈207m → ~79% CPU cut · ~$143/mo modeled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JVM pricing service (internal OOMs)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jvm.enabled+autoInstrument · heap sizing · startup recs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mem informed by real heap; hidden OOMs surfaced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HPA drift after rightsizing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AverageValueFromOriginalRequests converter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70% of 800m frozen at 560m absolute — thrash stops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Kafka StatefulSet (strict PDB)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resiliency, deferred, downscaling notAllowed, keepLimits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zero forced disruption; recs ride maintenance rollouts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Idle dev service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cost‑savings, p60, ovh .05, min cpu 25m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533"/>
                          </a:solidFill>
                          <a:latin typeface="Calibri"/>
                        </a:rPr>
                        <a:t>~95% CPU request cut; throttling accepted in dev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66928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08A00"/>
                </a:solidFill>
                <a:latin typeface="Calibri"/>
              </a:rPr>
              <a:t>Reported as available/potential until node capacity shrinks — modeled ≠ realized.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CAST AI WAS Engineering Guide · researched 2026‑10‑17 · docs.cast.ai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47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Golden rules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DDE7FF"/>
                </a:solidFill>
                <a:latin typeface="Calibri"/>
              </a:rPr>
              <a:t>1 · Read‑only first: ≥3–7 days of recommendations before automating any workload class.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2996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DDE7FF"/>
                </a:solidFill>
                <a:latin typeface="Calibri"/>
              </a:rPr>
              <a:t>2 · Memory target stays max — overhead is the seatbelt; CPU percentile is the throttle.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96896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DDE7FF"/>
                </a:solidFill>
                <a:latin typeface="Calibri"/>
              </a:rPr>
              <a:t>3 · Under HPA, CPU percentile/overhead are automatic — tune the HPA, don't fight the algorithm.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63824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DDE7FF"/>
                </a:solidFill>
                <a:latin typeface="Calibri"/>
              </a:rPr>
              <a:t>4 · Set min/max constraints everywhere; exclude infra sidecars; defer or notAllowed fragile statefuls.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30752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DDE7FF"/>
                </a:solidFill>
                <a:latin typeface="Calibri"/>
              </a:rPr>
              <a:t>5 · One owner per config: Git or WAS for resources:; one control plane for policy CRUD.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DDE7FF"/>
                </a:solidFill>
                <a:latin typeface="Calibri"/>
              </a:rPr>
              <a:t>6 · Rightsizing ≠ savings until nodes consolidate — report modeled vs realized honestly.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3C1FF"/>
                </a:solidFill>
                <a:latin typeface="Calibri"/>
              </a:rPr>
              <a:t>Adopt via the 8‑phase runbook (Ch. 15) · abort = policy automation off + eviction‑delay annotation.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Full handbook: cast-ai-was-guide/ (16 chapters + cheat sheet) · sources: docs.cast.ai inventory, verified 2026‑10‑17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