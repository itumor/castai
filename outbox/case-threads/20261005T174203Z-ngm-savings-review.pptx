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Evidence (all read-only GETs against api.eu.cast.ai, 2026-10-05). Period = September 2026 calendar month; GET /v1/cost-reports/clusters/{id}/savings, DAILY step required (hourly step undercounts ~7×). summary.totalSavings: helios $18,877.78 vs deck $18,878.73 (Δ$0.95); integ $18,512.46 vs $18,513.61 (Δ$1.15, recompute drift since PPT generation); kronos $3,501.32 vs $3,501.35 (Δ$0.03). Trailing-30d does NOT match — the deck period is the calendar month. Net verified: fee = €5 × summary.avgCpuCount (helios 1,786.3, integ 1,005.9, kronos 86.58 vCPU) at EUR/USD ≈ 1.14 → nets $8,695.90 / $12,780.11 / $3,007.82 vs deck $8,696.34 / $12,780.10 / $3,007.78. Why invisible: (1) counterfactual baseline model — projected = frozen pre-CAST-AI baseline × demand; (2) unit price fell but demand grew (integ +14.8% vCPU, OD compute +$2,374 MoM; kronos +42%); (3) fee basis avgCpuCount (this is also Gerolf's billable-CPU invoice math); (4) storage outside savings: helios $8,812 (16.3% of $53,908 bill), integ $1,786 (7.5%), kronos $327 (14.4%); (5) customer ruler = Cloudability/SAP EUR amortized RI/SP — compare deltas and ER, never levels, until d is pinned from their Cloudability export. Spot spend = $0 on all three (spotInstances.enabled=false). Workload autoscaler: 0 workloads optimized on all three (helios 3,628 policy-assigned but appliedPods=0; integ 1,523 recommend-only; kronos 263 READ_ONLY) → WAS savings $0; all realized savings come from node downscaling/bin-packing.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Verification (read-only, 2026-10-05): helios estimated-savings (LISTING basis) rightsizing $35,208 / spot $39,335 / spot-only $61,964 — deck ≈ 0.5× listing, i.e. discounted-scaled; integ live snapshot discounted rightsizing $4,212 / spot $4,283 / ARM $5,845, but estimated-savings-history shows deck values matched Oct-3 low-demand hours ($2,593 @06:00Z, $2,614 @00:00Z); kronos deck values match a single 2026-08-26T17:00Z peak hour (~180 vCPU) — September monthly averages are $385 (rightsizing) / $489 (spot), so the deck overstates kronos ~6–7× and the 10→3-node story is a peak-hour projection (fleet already = 3 nodes off-peak; weekday peaks 34–104 nodes). ARM is an external model everywhere. Kronos rebalancing: 30/50 recent scheduled plans status=error, 0 ops, isRebalancingRecommended=true — fix before committing dates. WOOP zero-workloads root cause: recommendation-only posture agreed with the R&amp;D driver, not a technical fault. Recommendation to Fabian: regenerate the money columns from estimated-savings-history 7-day averages on one basis before external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0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9144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All three NGM clusters are saving money with CAST AI</a:t>
            </a:r>
          </a:p>
          <a:p>
            <a:r>
              <a:rPr sz="1200">
                <a:solidFill>
                  <a:srgbClr val="D8F3EC"/>
                </a:solidFill>
              </a:rPr>
              <a:t>Realized savings · September 2026 · CAST AI Savings Report (EU API, discounted basis — re-verified 2026-10-05)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15568"/>
            <a:ext cx="2743200" cy="713232"/>
          </a:xfrm>
          <a:prstGeom prst="rect">
            <a:avLst/>
          </a:prstGeom>
          <a:solidFill>
            <a:srgbClr val="F2F7F5"/>
          </a:solidFill>
          <a:ln>
            <a:solidFill>
              <a:srgbClr val="D5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2200" b="1">
                <a:solidFill>
                  <a:srgbClr val="007A63"/>
                </a:solidFill>
              </a:rPr>
              <a:t>$40,894</a:t>
            </a:r>
          </a:p>
          <a:p>
            <a:r>
              <a:rPr sz="1000">
                <a:solidFill>
                  <a:srgbClr val="5A5A66"/>
                </a:solidFill>
              </a:rPr>
              <a:t>Gross savings, all 3 clusters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115568"/>
            <a:ext cx="2743200" cy="713232"/>
          </a:xfrm>
          <a:prstGeom prst="rect">
            <a:avLst/>
          </a:prstGeom>
          <a:solidFill>
            <a:srgbClr val="F2F7F5"/>
          </a:solidFill>
          <a:ln>
            <a:solidFill>
              <a:srgbClr val="D5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2200" b="1">
                <a:solidFill>
                  <a:srgbClr val="00B391"/>
                </a:solidFill>
              </a:rPr>
              <a:t>$24,484</a:t>
            </a:r>
          </a:p>
          <a:p>
            <a:r>
              <a:rPr sz="1000">
                <a:solidFill>
                  <a:srgbClr val="5A5A66"/>
                </a:solidFill>
              </a:rPr>
              <a:t>Net of platform fee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46520" y="1115568"/>
            <a:ext cx="2743200" cy="713232"/>
          </a:xfrm>
          <a:prstGeom prst="rect">
            <a:avLst/>
          </a:prstGeom>
          <a:solidFill>
            <a:srgbClr val="F2F7F5"/>
          </a:solidFill>
          <a:ln>
            <a:solidFill>
              <a:srgbClr val="D5DE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sz="2200" b="1">
                <a:solidFill>
                  <a:srgbClr val="007A63"/>
                </a:solidFill>
              </a:rPr>
              <a:t>3 / 3</a:t>
            </a:r>
          </a:p>
          <a:p>
            <a:r>
              <a:rPr sz="1000">
                <a:solidFill>
                  <a:srgbClr val="5A5A66"/>
                </a:solidFill>
              </a:rPr>
              <a:t>Clusters saving money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057400"/>
          <a:ext cx="5394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Cluster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Gross savings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Net savings*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F"/>
                          </a:solidFill>
                        </a:rPr>
                        <a:t>ngm-helios-eks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1B1F"/>
                          </a:solidFill>
                        </a:rPr>
                        <a:t>$18,878.73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1B1F"/>
                          </a:solidFill>
                        </a:rPr>
                        <a:t>$8,696.34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F"/>
                          </a:solidFill>
                        </a:rPr>
                        <a:t>ngm-integ-eks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1B1F"/>
                          </a:solidFill>
                        </a:rPr>
                        <a:t>$18,513.61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1B1F"/>
                          </a:solidFill>
                        </a:rPr>
                        <a:t>$12,780.10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B1B1F"/>
                          </a:solidFill>
                        </a:rPr>
                        <a:t>ngm-kronos-eks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1B1F"/>
                          </a:solidFill>
                        </a:rPr>
                        <a:t>$3,501.35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B1B1F"/>
                          </a:solidFill>
                        </a:rPr>
                        <a:t>$3,007.78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B1B1F"/>
                          </a:solidFill>
                        </a:rPr>
                        <a:t>All three clusters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B1B1F"/>
                          </a:solidFill>
                        </a:rPr>
                        <a:t>$40,893.69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B1B1F"/>
                          </a:solidFill>
                        </a:rPr>
                        <a:t>$24,484.22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41064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5A66"/>
                </a:solidFill>
              </a:rPr>
              <a:t>* Gross = CAST AI realized savings: what the clusters would have cost at the frozen pre-onboarding baseline minus what they actually cost — a counterfactual, not an invoice line. Net = gross − platform fee (€5 × avg provisioned vCPU·month ≈ €8.9k helios, €5.0k integ, €0.4k kronos). API re-pull 2026-10-05 matches every cell within $1.15. Kronos baseline is ~12 months old (cpuOP 5.25×, memOP 11×) — treat its $3.5k as directional pending re-baseline.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2057400"/>
            <a:ext cx="5486400" cy="3977639"/>
          </a:xfrm>
          <a:prstGeom prst="rect">
            <a:avLst/>
          </a:prstGeom>
          <a:solidFill>
            <a:srgbClr val="FBF4E8"/>
          </a:solidFill>
          <a:ln>
            <a:solidFill>
              <a:srgbClr val="E88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/>
          <a:lstStyle/>
          <a:p>
            <a:pPr algn="ctr"/>
            <a:r>
              <a:rPr sz="1400" b="1">
                <a:solidFill>
                  <a:srgbClr val="9A6000"/>
                </a:solidFill>
              </a:rPr>
              <a:t>Why doesn't the customer see it on their bill?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1B1F"/>
                </a:solidFill>
              </a:rPr>
              <a:t>▸ It's a counterfactual, not an invoice line.</a:t>
            </a:r>
          </a:p>
          <a:p>
            <a:r>
              <a:rPr sz="1000">
                <a:solidFill>
                  <a:srgbClr val="5A5A66"/>
                </a:solidFill>
              </a:rPr>
              <a:t>  Savings appear only as a lower unit price: $/vCPU-day fell Jul→Sep on every cluster (helios −7.9%, integ $0.813 → $0.731, kronos ER 0.62).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1B1F"/>
                </a:solidFill>
              </a:rPr>
              <a:t>▸ Demand growth eats the unit-price win.</a:t>
            </a:r>
          </a:p>
          <a:p>
            <a:r>
              <a:rPr sz="1000">
                <a:solidFill>
                  <a:srgbClr val="5A5A66"/>
                </a:solidFill>
              </a:rPr>
              <a:t>  integ +14.8% and kronos +42% provisioned vCPU Aug→Sep — bills rise or stay flat while the price per vCPU drops.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1B1F"/>
                </a:solidFill>
              </a:rPr>
              <a:t>▸ The €5/vCPU platform fee sits between gross and net.</a:t>
            </a:r>
          </a:p>
          <a:p>
            <a:r>
              <a:rPr sz="1000">
                <a:solidFill>
                  <a:srgbClr val="5A5A66"/>
                </a:solidFill>
              </a:rPr>
              <a:t>  ≈ $16.4k/month across the three clusters — visible on their invoice, deducted from the savings view.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1B1F"/>
                </a:solidFill>
              </a:rPr>
              <a:t>▸ Different ruler + storage outside the math.</a:t>
            </a:r>
          </a:p>
          <a:p>
            <a:r>
              <a:rPr sz="1000">
                <a:solidFill>
                  <a:srgbClr val="5A5A66"/>
                </a:solidFill>
              </a:rPr>
              <a:t>  They read Cloudability/SAP in EUR (paid, RI/SP-discounted); the API is USD compute-only. Storage = 7–16% of each bill and never appears in savings.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5A66"/>
                </a:solidFill>
              </a:rPr>
              <a:t>Unrestricted | © Siemens 2026 | SI GSW CLO – NGM cost review | CAST AI</a:t>
            </a:r>
            <a:r>
              <a:rPr sz="900">
                <a:solidFill>
                  <a:srgbClr val="5A5A66"/>
                </a:solidFill>
              </a:rPr>
              <a:t>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32688"/>
          </a:xfrm>
          <a:prstGeom prst="rect">
            <a:avLst/>
          </a:prstGeom>
          <a:solidFill>
            <a:srgbClr val="007A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0" tIns="91440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Additional savings potential — align on what is possible, and what is not yet proven</a:t>
            </a:r>
          </a:p>
          <a:p>
            <a:r>
              <a:rPr sz="1200">
                <a:solidFill>
                  <a:srgbClr val="D8F3EC"/>
                </a:solidFill>
              </a:rPr>
              <a:t>Modeled opportunity, not realized savings · scenarios overlap and are not additive · snapshot values, October 2026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1188720"/>
          <a:ext cx="11521440" cy="38679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2103120"/>
                <a:gridCol w="822960"/>
                <a:gridCol w="2926080"/>
                <a:gridCol w="2103120"/>
                <a:gridCol w="1600200"/>
                <a:gridCol w="1554480"/>
              </a:tblGrid>
              <a:tr h="429767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Prio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Recommendation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Scope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Expected impact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Controls / guardrails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</a:rPr>
                        <a:t>$/mo (H · I · K → Σ)</a:t>
                      </a:r>
                    </a:p>
                  </a:txBody>
                  <a:tcPr marL="54864" marR="54864" marT="18288" marB="18288" anchor="ctr">
                    <a:solidFill>
                      <a:srgbClr val="007A63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72C41"/>
                          </a:solidFill>
                        </a:rPr>
                        <a:t>P1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Activate workload rightsizing through a controlled pilot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All three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Start with non-critical workloads; expand after SLO review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Monitor latency, throttling, restarts, evictions, SLOs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Requires WOOP moved from recommend-only to apply on pilot namespaces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17,387 · 2,590 · 2,942 → 22,919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72C41"/>
                          </a:solidFill>
                        </a:rPr>
                        <a:t>P1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Activate the workload autoscaler (manages 0 workloads today)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All three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Unlocks the rightsizing opportunity; no workload-autoscaler savings claimable before activation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Labels, namespace scope, policy exclusions, permissions, admission, version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Decision, not a defect: recommend-only by design (applied 0 of 3,628 H · 1,523 I · 263 K); upgrade agent v1.10.4 → v1.14.x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72C41"/>
                          </a:solidFill>
                        </a:rPr>
                        <a:t>P1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Kronos node-capacity rebalancing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Kronos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May shrink the modeled peak fleet 10 → ~3 nodes (off-peak fleet is already 3 nodes today)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Review Kafka, Valkey, PostgreSQL, storage, affinity, PDBs, Windows node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Peak-hour snapshot artifact (Aug 26, ~180 vCPU); September average ≈ $0.4–0.5k/mo; rebalancing plans currently erroring (30/50, 0 ops)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2,942 (peak hour)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B00"/>
                          </a:solidFill>
                        </a:rPr>
                        <a:t>P2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Tune helios &amp; integ node pools after rightsizing validation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Helios, Integ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Apply after rightsizing validation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Instance families, min/max nodes, DaemonSets, requests, affinity, topology, disruption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Same dollars as the P1 rightsizing rows — sequencing row, must not add to the total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17,387 · 2,590 (dupl.)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B00"/>
                          </a:solidFill>
                        </a:rPr>
                        <a:t>P2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Assess selective Spot adoption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All three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0% Spot today — largest unused lever (live Spot discounts up to −63% observed)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Taints/tolerations, fallback capacity, interruption handling, workload eligibility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CAST AI listing-basis model reads ≈ 2× these values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20,597 · 2,632 · 3,026 → 26,254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A6FCF"/>
                          </a:solidFill>
                        </a:rPr>
                        <a:t>P3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ARM/Graviton compatibility proof of concept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All three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Compatibility PoC before any migration commitment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Images, native libs, agents, storage drivers, licensing, Windows deps, performance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External model — no CAST AI scenario endpoint to cross-check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21,977 · 3,913 · 3,040 → 28,929</a:t>
                      </a:r>
                    </a:p>
                  </a:txBody>
                  <a:tcPr marL="54864" marR="54864" marT="18288" marB="18288" anchor="ctr">
                    <a:solidFill>
                      <a:srgbClr val="F2F7F5"/>
                    </a:solidFill>
                  </a:tcPr>
                </a:tc>
              </a:tr>
              <a:tr h="4297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A6FCF"/>
                          </a:solidFill>
                        </a:rPr>
                        <a:t>P3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Introduce savings guardrails and monthly governance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All three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Prevents double counting; impact depends on validated rollout results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Cost, utilization, requests, availability, latency, evictions, restarts, churn, interruptions, SLOs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Owns the overlap problem on this slide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B1B1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75">
                <a:tc>
                  <a:txBody>
                    <a:bodyPr/>
                    <a:lstStyle/>
                    <a:p>
                      <a:pPr algn="ctr"/>
                    </a:p>
                  </a:txBody>
                  <a:tcPr marL="54864" marR="54864" marT="18288" marB="18288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B1B1F"/>
                          </a:solidFill>
                        </a:rPr>
                        <a:t>Cluster totals (as proposed)</a:t>
                      </a:r>
                    </a:p>
                  </a:txBody>
                  <a:tcPr marL="54864" marR="54864" marT="18288" marB="18288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B1B1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B1B1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B1B1F"/>
                          </a:solidFill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B1B1F"/>
                          </a:solidFill>
                        </a:rPr>
                        <a:t>Unique ≈ $78.1k; avg basis lower</a:t>
                      </a:r>
                    </a:p>
                  </a:txBody>
                  <a:tcPr marL="54864" marR="54864" marT="18288" marB="18288" anchor="ctr">
                    <a:solidFill>
                      <a:srgbClr val="E4F1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7A63"/>
                          </a:solidFill>
                        </a:rPr>
                        <a:t>77,349 · 11,725 · 11,949 → 101,022</a:t>
                      </a:r>
                    </a:p>
                  </a:txBody>
                  <a:tcPr marL="54864" marR="54864" marT="18288" marB="18288" anchor="ctr">
                    <a:solidFill>
                      <a:srgbClr val="E4F1E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05332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5A66"/>
                </a:solidFill>
              </a:rPr>
              <a:t>Money: Helios · Integ · Kronos → Total, $/month modeled (discounted basis unless noted). Source = single-hour snapshots (Aug 26 kronos peak; Oct 3 integ trough) — bursty clusters need 7-day averages; CAST AI listing-basis scenarios ≈ 2× helios. The $101k proposed total counts rightsizing dollars twice; unique ≈ $78.1k, scenarios still overlap.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A5A66"/>
                </a:solidFill>
              </a:rPr>
              <a:t>Unrestricted | © Siemens 2026 | SI GSW CLO – NGM cost review | CAST AI</a:t>
            </a:r>
            <a:r>
              <a:rPr sz="900">
                <a:solidFill>
                  <a:srgbClr val="5A5A66"/>
                </a:solidFill>
              </a:rPr>
              <a:t>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